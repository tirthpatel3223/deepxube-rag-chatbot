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66" r:id="rId15"/>
    <p:sldId id="265" r:id="rId16"/>
    <p:sldId id="267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6975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2689696"/>
            <a:ext cx="1147589" cy="376039"/>
          </a:xfrm>
          <a:prstGeom prst="roundRect">
            <a:avLst>
              <a:gd name="adj" fmla="val 7599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2337" y="2754784"/>
            <a:ext cx="903114" cy="28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2061890" y="2689696"/>
            <a:ext cx="1264171" cy="376039"/>
          </a:xfrm>
          <a:prstGeom prst="roundRect">
            <a:avLst>
              <a:gd name="adj" fmla="val 7599"/>
            </a:avLst>
          </a:prstGeom>
          <a:solidFill>
            <a:srgbClr val="EEEDEA"/>
          </a:solidFill>
          <a:ln w="7937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22227" y="2754784"/>
            <a:ext cx="1019696" cy="28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3408536"/>
            <a:ext cx="10791825" cy="79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b="1" kern="0" spc="-114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DeepXube RAG Chatbot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762000" y="4397127"/>
            <a:ext cx="88296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the DeepXube codebase and research accessible via a retrieval-augmented generation assistant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762000" y="5749603"/>
            <a:ext cx="571500" cy="28525"/>
          </a:xfrm>
          <a:prstGeom prst="roundRect">
            <a:avLst>
              <a:gd name="adj" fmla="val 50001"/>
            </a:avLst>
          </a:prstGeom>
          <a:solidFill>
            <a:srgbClr val="287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2000" y="6159128"/>
            <a:ext cx="267521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05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6476628"/>
            <a:ext cx="2675218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Tirth Patel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121299" y="6159128"/>
            <a:ext cx="284154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05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21299" y="6476628"/>
            <a:ext cx="2841541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Forest Agostinelli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3716000" y="0"/>
            <a:ext cx="4572000" cy="10287000"/>
          </a:xfrm>
          <a:prstGeom prst="rect">
            <a:avLst/>
          </a:prstGeom>
          <a:solidFill>
            <a:srgbClr val="EE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00" y="0"/>
            <a:ext cx="9525" cy="10287000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1968" y="3619500"/>
            <a:ext cx="3048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42801"/>
            <a:ext cx="2660144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PROBLEM STATEMENT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059919" y="358676"/>
            <a:ext cx="542280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52500"/>
            <a:ext cx="17266920" cy="645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87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access gap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762000" y="1712392"/>
            <a:ext cx="17266920" cy="4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DeepXube is a capable system. Navigating it shouldn't require a research internship.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62000" y="2579067"/>
            <a:ext cx="589948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9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EXISTS TODAY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762000" y="3783831"/>
            <a:ext cx="572765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8700" y="3031505"/>
            <a:ext cx="5632780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Python library: </a:t>
            </a:r>
            <a:r>
              <a:rPr lang="en-US" sz="1518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deepxube-main/ </a:t>
            </a: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several thousand LOC across many modules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762000" y="4639345"/>
            <a:ext cx="572765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" y="3887019"/>
            <a:ext cx="5632780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research papers (DeepCubeA, DeepXube, etc.) — dense, not cross-linked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762000" y="5494858"/>
            <a:ext cx="572765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8700" y="4742532"/>
            <a:ext cx="5632780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</a:t>
            </a:r>
            <a:r>
              <a:rPr lang="en-US" sz="1518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.md </a:t>
            </a: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docs with YAML frontmatter — rich but unsurfaced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028700" y="5598046"/>
            <a:ext cx="5632780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guided entry point for outside researchers or practitioners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061150" y="2579067"/>
            <a:ext cx="589960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9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NEW USER FACES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7061150" y="3783831"/>
            <a:ext cx="5727774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27850" y="3031505"/>
            <a:ext cx="5632907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</a:t>
            </a:r>
            <a:r>
              <a:rPr lang="en-US" sz="1725" i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 I define a custom environment?" </a:t>
            </a: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grep the source, read 6 files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7061150" y="4639345"/>
            <a:ext cx="5727774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27850" y="3887019"/>
            <a:ext cx="5632907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</a:t>
            </a:r>
            <a:r>
              <a:rPr lang="en-US" sz="1725" i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heuristic function does DeepXube train?" </a:t>
            </a: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find the right paper section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7061150" y="5166320"/>
            <a:ext cx="5727774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27850" y="4742532"/>
            <a:ext cx="5632907" cy="366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</a:t>
            </a:r>
            <a:r>
              <a:rPr lang="en-US" sz="1725" i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calls </a:t>
            </a:r>
            <a:r>
              <a:rPr lang="en-US" sz="1518" i="1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solve()</a:t>
            </a:r>
            <a:r>
              <a:rPr lang="en-US" sz="1725" i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?" </a:t>
            </a: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manual call-graph traversal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7327850" y="5269507"/>
            <a:ext cx="5632907" cy="366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high onboarding friction, underuse of the system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3360424" y="2579067"/>
            <a:ext cx="429054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9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PROF.'S STATED GOAL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13360424" y="2936255"/>
            <a:ext cx="4165575" cy="1101824"/>
          </a:xfrm>
          <a:prstGeom prst="roundRect">
            <a:avLst>
              <a:gd name="adj" fmla="val 5187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654112" y="3172767"/>
            <a:ext cx="3685546" cy="666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"Make DeepXube easily accessible to outside users via the lab website."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3360424" y="4266654"/>
            <a:ext cx="429054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audience: researchers, students, and practitioners who understand the problem domain but not the codebase.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42801"/>
            <a:ext cx="2656950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PROPOSED SOLUTION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059919" y="358676"/>
            <a:ext cx="542280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52500"/>
            <a:ext cx="17266920" cy="645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87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RAG chatbot, embeddable on the lab website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762000" y="1712392"/>
            <a:ext cx="11772900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embedding call routes each query to a pre-built knowledge store — FAQ, code, or papers — and returns a grounded, cited answer with minimal LLM cost.</a:t>
            </a:r>
            <a:endParaRPr lang="en-US" sz="172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185047"/>
            <a:ext cx="15240000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42801"/>
            <a:ext cx="2026468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DATA SOURCES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059919" y="358676"/>
            <a:ext cx="542280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52500"/>
            <a:ext cx="17266920" cy="645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87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 retrieval corpus already exists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762000" y="2360042"/>
            <a:ext cx="2286000" cy="1587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2500" y="2036242"/>
            <a:ext cx="1981200" cy="22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48000" y="2360042"/>
            <a:ext cx="3619500" cy="1587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38500" y="2036242"/>
            <a:ext cx="3347085" cy="22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/ FORMAT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67500" y="2360042"/>
            <a:ext cx="9334500" cy="1587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0" y="2036242"/>
            <a:ext cx="9233535" cy="22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002000" y="2360042"/>
            <a:ext cx="1524000" cy="1587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192500" y="2036242"/>
            <a:ext cx="1219200" cy="22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2000" y="3322712"/>
            <a:ext cx="2286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2500" y="2547367"/>
            <a:ext cx="1981200" cy="641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docs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3048000" y="3322712"/>
            <a:ext cx="36195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38500" y="2599779"/>
            <a:ext cx="3138661" cy="228451"/>
          </a:xfrm>
          <a:prstGeom prst="roundRect">
            <a:avLst>
              <a:gd name="adj" fmla="val 12508"/>
            </a:avLst>
          </a:prstGeom>
          <a:solidFill>
            <a:srgbClr val="EE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05175" y="2618829"/>
            <a:ext cx="3099471" cy="228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39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docs/functions/&lt;mod&gt;/&lt;Class&gt;/&lt;fn&gt;.md</a:t>
            </a:r>
            <a:endParaRPr lang="en-US" sz="1339" dirty="0"/>
          </a:p>
        </p:txBody>
      </p:sp>
      <p:sp>
        <p:nvSpPr>
          <p:cNvPr id="18" name="Shape 16"/>
          <p:cNvSpPr/>
          <p:nvPr/>
        </p:nvSpPr>
        <p:spPr>
          <a:xfrm>
            <a:off x="6667500" y="3322712"/>
            <a:ext cx="93345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2547367"/>
            <a:ext cx="9233535" cy="641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frontmatter: </a:t>
            </a: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qualified_name</a:t>
            </a: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file:line</a:t>
            </a: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callees</a:t>
            </a: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reads_attrs </a:t>
            </a: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doc per function. Already perfect retrieval units.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6002000" y="3322712"/>
            <a:ext cx="1524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6192500" y="2580680"/>
            <a:ext cx="766589" cy="291951"/>
          </a:xfrm>
          <a:prstGeom prst="roundRect">
            <a:avLst>
              <a:gd name="adj" fmla="val 9788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314737" y="2626717"/>
            <a:ext cx="598314" cy="23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Ready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2000" y="4273475"/>
            <a:ext cx="2286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52500" y="3502099"/>
            <a:ext cx="1981200" cy="638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graph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3048000" y="4273475"/>
            <a:ext cx="36195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38500" y="3550543"/>
            <a:ext cx="1333624" cy="228451"/>
          </a:xfrm>
          <a:prstGeom prst="roundRect">
            <a:avLst>
              <a:gd name="adj" fmla="val 12508"/>
            </a:avLst>
          </a:prstGeom>
          <a:solidFill>
            <a:srgbClr val="EE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05175" y="3569593"/>
            <a:ext cx="1276474" cy="228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39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docs/graph.json</a:t>
            </a:r>
            <a:endParaRPr lang="en-US" sz="1339" dirty="0"/>
          </a:p>
        </p:txBody>
      </p:sp>
      <p:sp>
        <p:nvSpPr>
          <p:cNvPr id="28" name="Shape 26"/>
          <p:cNvSpPr/>
          <p:nvPr/>
        </p:nvSpPr>
        <p:spPr>
          <a:xfrm>
            <a:off x="6667500" y="4273475"/>
            <a:ext cx="93345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0" y="3502099"/>
            <a:ext cx="9233535" cy="638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= functions/classes. Edges = caller→callee. Enables structural "what calls X?" traversal without any LLM call. Load once into NetworkX.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6002000" y="4273475"/>
            <a:ext cx="1524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6192500" y="3531443"/>
            <a:ext cx="766589" cy="291951"/>
          </a:xfrm>
          <a:prstGeom prst="roundRect">
            <a:avLst>
              <a:gd name="adj" fmla="val 9788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6314737" y="3577481"/>
            <a:ext cx="598314" cy="23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Ready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2000" y="5224239"/>
            <a:ext cx="2286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52500" y="4452863"/>
            <a:ext cx="1981200" cy="638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+ module docs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3048000" y="5224239"/>
            <a:ext cx="36195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38500" y="4452863"/>
            <a:ext cx="3347085" cy="638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docs/classes/</a:t>
            </a: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docs/modules/</a:t>
            </a:r>
            <a:endParaRPr lang="en-US" sz="1575" dirty="0"/>
          </a:p>
        </p:txBody>
      </p:sp>
      <p:sp>
        <p:nvSpPr>
          <p:cNvPr id="37" name="Shape 35"/>
          <p:cNvSpPr/>
          <p:nvPr/>
        </p:nvSpPr>
        <p:spPr>
          <a:xfrm>
            <a:off x="6667500" y="5224239"/>
            <a:ext cx="93345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0" y="4452863"/>
            <a:ext cx="9233535" cy="638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Higher-level summaries for broad "what does module X do?" queries. Supplement function-level retrieval.</a:t>
            </a:r>
            <a:endParaRPr lang="en-US" sz="1575" dirty="0"/>
          </a:p>
        </p:txBody>
      </p:sp>
      <p:sp>
        <p:nvSpPr>
          <p:cNvPr id="39" name="Shape 37"/>
          <p:cNvSpPr/>
          <p:nvPr/>
        </p:nvSpPr>
        <p:spPr>
          <a:xfrm>
            <a:off x="16002000" y="5224239"/>
            <a:ext cx="1524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6192500" y="4482207"/>
            <a:ext cx="766589" cy="291951"/>
          </a:xfrm>
          <a:prstGeom prst="roundRect">
            <a:avLst>
              <a:gd name="adj" fmla="val 9788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6314737" y="4528244"/>
            <a:ext cx="598314" cy="23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Ready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2000" y="6175003"/>
            <a:ext cx="2286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52500" y="5403627"/>
            <a:ext cx="1981200" cy="638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papers</a:t>
            </a:r>
            <a:endParaRPr lang="en-US" sz="1575" dirty="0"/>
          </a:p>
        </p:txBody>
      </p:sp>
      <p:sp>
        <p:nvSpPr>
          <p:cNvPr id="44" name="Shape 42"/>
          <p:cNvSpPr/>
          <p:nvPr/>
        </p:nvSpPr>
        <p:spPr>
          <a:xfrm>
            <a:off x="3048000" y="6175003"/>
            <a:ext cx="36195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38500" y="5403627"/>
            <a:ext cx="3347085" cy="638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PDFs (DeepCubeA, DeepXube, related)</a:t>
            </a:r>
            <a:endParaRPr lang="en-US" sz="1575" dirty="0"/>
          </a:p>
        </p:txBody>
      </p:sp>
      <p:sp>
        <p:nvSpPr>
          <p:cNvPr id="46" name="Shape 44"/>
          <p:cNvSpPr/>
          <p:nvPr/>
        </p:nvSpPr>
        <p:spPr>
          <a:xfrm>
            <a:off x="6667500" y="6175003"/>
            <a:ext cx="93345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58000" y="5403627"/>
            <a:ext cx="9233535" cy="638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section-level chunking with metadata: </a:t>
            </a: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paper_id</a:t>
            </a: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§section </a:t>
            </a: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page range. Standard PDF → text pipeline.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16002000" y="6175003"/>
            <a:ext cx="1524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6192500" y="5432971"/>
            <a:ext cx="771426" cy="291951"/>
          </a:xfrm>
          <a:prstGeom prst="roundRect">
            <a:avLst>
              <a:gd name="adj" fmla="val 9788"/>
            </a:avLst>
          </a:prstGeom>
          <a:solidFill>
            <a:srgbClr val="FEF3E4"/>
          </a:solidFill>
          <a:ln w="7937">
            <a:solidFill>
              <a:srgbClr val="DDB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6314737" y="5479008"/>
            <a:ext cx="603151" cy="23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A06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⟳ Ingest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52500" y="6354390"/>
            <a:ext cx="1981200" cy="641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store</a:t>
            </a:r>
            <a:endParaRPr lang="en-US" sz="1575" dirty="0"/>
          </a:p>
        </p:txBody>
      </p:sp>
      <p:sp>
        <p:nvSpPr>
          <p:cNvPr id="52" name="Text 50"/>
          <p:cNvSpPr/>
          <p:nvPr/>
        </p:nvSpPr>
        <p:spPr>
          <a:xfrm>
            <a:off x="3238500" y="6354390"/>
            <a:ext cx="3347085" cy="641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hand-curated: </a:t>
            </a: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{question, answer, sources}</a:t>
            </a:r>
            <a:endParaRPr lang="en-US" sz="1575" dirty="0"/>
          </a:p>
        </p:txBody>
      </p:sp>
      <p:sp>
        <p:nvSpPr>
          <p:cNvPr id="53" name="Text 51"/>
          <p:cNvSpPr/>
          <p:nvPr/>
        </p:nvSpPr>
        <p:spPr>
          <a:xfrm>
            <a:off x="6858000" y="6354390"/>
            <a:ext cx="9233535" cy="641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with ~30–50 entries. Later auto-promoted from approved misses. The single biggest cost-reduction lever.</a:t>
            </a:r>
            <a:endParaRPr lang="en-US" sz="1575" dirty="0"/>
          </a:p>
        </p:txBody>
      </p:sp>
      <p:sp>
        <p:nvSpPr>
          <p:cNvPr id="54" name="Shape 52"/>
          <p:cNvSpPr/>
          <p:nvPr/>
        </p:nvSpPr>
        <p:spPr>
          <a:xfrm>
            <a:off x="16192500" y="6383734"/>
            <a:ext cx="808385" cy="291951"/>
          </a:xfrm>
          <a:prstGeom prst="roundRect">
            <a:avLst>
              <a:gd name="adj" fmla="val 9788"/>
            </a:avLst>
          </a:prstGeom>
          <a:solidFill>
            <a:srgbClr val="FEF3E4"/>
          </a:solidFill>
          <a:ln w="7937">
            <a:solidFill>
              <a:srgbClr val="DDB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6314737" y="6429772"/>
            <a:ext cx="640110" cy="23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A06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⟳ Curate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62000" y="7396386"/>
            <a:ext cx="16764000" cy="917525"/>
          </a:xfrm>
          <a:prstGeom prst="roundRect">
            <a:avLst>
              <a:gd name="adj" fmla="val 6229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055687" y="7672586"/>
            <a:ext cx="105883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—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55687" y="7632898"/>
            <a:ext cx="16637524" cy="47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320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.md </a:t>
            </a:r>
            <a:r>
              <a:rPr lang="en-US" sz="15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docs have structured frontmatter for filtering </a:t>
            </a:r>
            <a:r>
              <a:rPr lang="en-US" sz="1500" i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5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 for semantic matching </a:t>
            </a:r>
            <a:r>
              <a:rPr lang="en-US" sz="1500" i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5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snippets for grounded answers. They were designed exactly for this use case.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42801"/>
            <a:ext cx="3000199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ARCHITECTURE · STORES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059919" y="358676"/>
            <a:ext cx="542280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52500"/>
            <a:ext cx="17266920" cy="645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87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purpose-built knowledge stores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762000" y="1949800"/>
            <a:ext cx="5207000" cy="7812608"/>
          </a:xfrm>
          <a:prstGeom prst="roundRect">
            <a:avLst>
              <a:gd name="adj" fmla="val 1463"/>
            </a:avLst>
          </a:prstGeom>
          <a:solidFill>
            <a:srgbClr val="EEEDEA"/>
          </a:solidFill>
          <a:ln w="7937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2738" y="2291829"/>
            <a:ext cx="1211387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Store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773910" y="2329160"/>
            <a:ext cx="844352" cy="250775"/>
          </a:xfrm>
          <a:prstGeom prst="roundRect">
            <a:avLst>
              <a:gd name="adj" fmla="val 11395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6148" y="2375198"/>
            <a:ext cx="676077" cy="19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12738" y="2988593"/>
            <a:ext cx="4640689" cy="5113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question embeddings → </a:t>
            </a:r>
            <a:r>
              <a:rPr lang="en-US" sz="1320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{canonical_answer, sources} </a:t>
            </a:r>
            <a:r>
              <a:rPr lang="en-US" sz="150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Returns answers with </a:t>
            </a:r>
            <a:r>
              <a:rPr lang="en-US" sz="1500" b="1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LLM calls </a:t>
            </a:r>
            <a:r>
              <a:rPr lang="en-US" sz="150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cache hit.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12738" y="8235280"/>
            <a:ext cx="4505523" cy="789905"/>
          </a:xfrm>
          <a:prstGeom prst="roundRect">
            <a:avLst>
              <a:gd name="adj" fmla="val 6029"/>
            </a:avLst>
          </a:prstGeom>
          <a:solidFill>
            <a:srgbClr val="F7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03238" y="8387581"/>
            <a:ext cx="42482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03238" y="8622481"/>
            <a:ext cx="4248259" cy="288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 ≥ τ</a:t>
            </a:r>
            <a:r>
              <a:rPr lang="en-US" sz="1187" baseline="-4000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</a:t>
            </a:r>
            <a:r>
              <a:rPr lang="en-US" sz="1425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cached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112738" y="9196586"/>
            <a:ext cx="4640689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over time: approved misses promoted automatically.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40500" y="1941091"/>
            <a:ext cx="5207000" cy="7812608"/>
          </a:xfrm>
          <a:prstGeom prst="roundRect">
            <a:avLst>
              <a:gd name="adj" fmla="val 1463"/>
            </a:avLst>
          </a:prstGeom>
          <a:solidFill>
            <a:srgbClr val="EEEDEA"/>
          </a:solidFill>
          <a:ln w="7937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91238" y="2291829"/>
            <a:ext cx="1335658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Store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654232" y="2329160"/>
            <a:ext cx="844352" cy="250775"/>
          </a:xfrm>
          <a:prstGeom prst="roundRect">
            <a:avLst>
              <a:gd name="adj" fmla="val 11395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76470" y="2375198"/>
            <a:ext cx="676077" cy="19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574734" y="2329160"/>
            <a:ext cx="822027" cy="250775"/>
          </a:xfrm>
          <a:prstGeom prst="roundRect">
            <a:avLst>
              <a:gd name="adj" fmla="val 11395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696971" y="2375198"/>
            <a:ext cx="653752" cy="19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91238" y="2988593"/>
            <a:ext cx="4640689" cy="4696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vector per function/class </a:t>
            </a:r>
            <a:r>
              <a:rPr lang="en-US" sz="1320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.md </a:t>
            </a:r>
            <a:r>
              <a:rPr lang="en-US" sz="150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doc. Semantic retrieval answers "what does X do?". Graph traversal answers "what calls X?" — no extra LLM call.</a:t>
            </a:r>
            <a:endParaRPr lang="en-US" sz="15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238" y="7818686"/>
            <a:ext cx="4191000" cy="104775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891238" y="9037836"/>
            <a:ext cx="4640689" cy="403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is overkill for ~hundreds of nodes. </a:t>
            </a:r>
            <a:r>
              <a:rPr lang="en-US" sz="1122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graph.json </a:t>
            </a:r>
            <a:r>
              <a:rPr lang="en-US" sz="127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in-memory is free infrastructure.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12318999" y="1941091"/>
            <a:ext cx="5207000" cy="7812608"/>
          </a:xfrm>
          <a:prstGeom prst="roundRect">
            <a:avLst>
              <a:gd name="adj" fmla="val 1463"/>
            </a:avLst>
          </a:prstGeom>
          <a:solidFill>
            <a:srgbClr val="EEEDEA"/>
          </a:solidFill>
          <a:ln w="7937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2669738" y="2291829"/>
            <a:ext cx="1428427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Store</a:t>
            </a:r>
            <a:endParaRPr lang="en-US" sz="1950" dirty="0"/>
          </a:p>
        </p:txBody>
      </p:sp>
      <p:sp>
        <p:nvSpPr>
          <p:cNvPr id="27" name="Shape 24"/>
          <p:cNvSpPr/>
          <p:nvPr/>
        </p:nvSpPr>
        <p:spPr>
          <a:xfrm>
            <a:off x="16330910" y="2329160"/>
            <a:ext cx="844352" cy="250775"/>
          </a:xfrm>
          <a:prstGeom prst="roundRect">
            <a:avLst>
              <a:gd name="adj" fmla="val 11395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6453148" y="2375198"/>
            <a:ext cx="676077" cy="19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2669738" y="2988593"/>
            <a:ext cx="4640689" cy="495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papers chunked at </a:t>
            </a:r>
            <a:r>
              <a:rPr lang="en-US" sz="1500" b="1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granularity </a:t>
            </a:r>
            <a:r>
              <a:rPr lang="en-US" sz="150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Each chunk carries </a:t>
            </a:r>
            <a:r>
              <a:rPr lang="en-US" sz="1320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paper_id </a:t>
            </a:r>
            <a:r>
              <a:rPr lang="en-US" sz="150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320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§section </a:t>
            </a:r>
            <a:r>
              <a:rPr lang="en-US" sz="150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metadata. Enables citations users can actually verify.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12669738" y="8072933"/>
            <a:ext cx="4505523" cy="745877"/>
          </a:xfrm>
          <a:prstGeom prst="roundRect">
            <a:avLst>
              <a:gd name="adj" fmla="val 6385"/>
            </a:avLst>
          </a:prstGeom>
          <a:solidFill>
            <a:srgbClr val="F7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2860238" y="8225234"/>
            <a:ext cx="42482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FORMAT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2860238" y="8460135"/>
            <a:ext cx="4248259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DeepXube §3.2 · p.5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12669738" y="8990211"/>
            <a:ext cx="4640689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Section-level chunking balances context size vs. citation precision.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42801"/>
            <a:ext cx="4357353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ARCHITECTURE · LANGGRAPH PIPELINE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059919" y="358676"/>
            <a:ext cx="542280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028650"/>
            <a:ext cx="372808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kern="0" spc="-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walkthrough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62000" y="2304851"/>
            <a:ext cx="3728085" cy="1195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embedding call is shared across all nodes. The graph has two </a:t>
            </a:r>
            <a:r>
              <a:rPr lang="en-US" sz="1425" b="1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exits </a:t>
            </a:r>
            <a:r>
              <a:rPr lang="en-US" sz="142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out-of-scope and FAQ cache hit — that short-circuit before any LLM call.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762000" y="3715742"/>
            <a:ext cx="133325" cy="133325"/>
          </a:xfrm>
          <a:prstGeom prst="roundRect">
            <a:avLst>
              <a:gd name="adj" fmla="val 14288"/>
            </a:avLst>
          </a:prstGeom>
          <a:solidFill>
            <a:srgbClr val="E6F2F0"/>
          </a:solidFill>
          <a:ln w="15875">
            <a:solidFill>
              <a:srgbClr val="287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9551" y="3691185"/>
            <a:ext cx="2308250" cy="22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flow (sequential / parallel)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762000" y="3993554"/>
            <a:ext cx="133325" cy="133325"/>
          </a:xfrm>
          <a:prstGeom prst="roundRect">
            <a:avLst>
              <a:gd name="adj" fmla="val 14288"/>
            </a:avLst>
          </a:prstGeom>
          <a:solidFill>
            <a:srgbClr val="FEF3E4"/>
          </a:solidFill>
          <a:ln w="15875">
            <a:solidFill>
              <a:srgbClr val="A06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9551" y="3968998"/>
            <a:ext cx="1903065" cy="22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Early-exit / terminal paths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762000" y="4328542"/>
            <a:ext cx="285750" cy="18976"/>
          </a:xfrm>
          <a:prstGeom prst="rect">
            <a:avLst/>
          </a:prstGeom>
          <a:solidFill>
            <a:srgbClr val="287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61976" y="4246811"/>
            <a:ext cx="1291754" cy="22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edge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762000" y="4606354"/>
            <a:ext cx="285750" cy="18976"/>
          </a:xfrm>
          <a:prstGeom prst="rect">
            <a:avLst/>
          </a:prstGeom>
          <a:solidFill>
            <a:srgbClr val="C8C5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2000" y="4606354"/>
            <a:ext cx="285750" cy="15875"/>
          </a:xfrm>
          <a:prstGeom prst="rect">
            <a:avLst/>
          </a:prstGeom>
          <a:solidFill>
            <a:srgbClr val="C8C5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61976" y="4524623"/>
            <a:ext cx="1426567" cy="22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branch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762000" y="4935637"/>
            <a:ext cx="3619500" cy="1236514"/>
          </a:xfrm>
          <a:prstGeom prst="roundRect">
            <a:avLst>
              <a:gd name="adj" fmla="val 4622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5687" y="5172149"/>
            <a:ext cx="312308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FAN-OUT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5687" y="5387950"/>
            <a:ext cx="3123089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LangGraph's native fan-out runs </a:t>
            </a:r>
            <a:r>
              <a:rPr lang="en-US" sz="1122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code_retrieve </a:t>
            </a:r>
            <a:r>
              <a:rPr lang="en-US" sz="127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122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paper_retrieve </a:t>
            </a:r>
            <a:r>
              <a:rPr lang="en-US" sz="127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concurrently; results join at </a:t>
            </a:r>
            <a:r>
              <a:rPr lang="en-US" sz="1122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rerank</a:t>
            </a:r>
            <a:r>
              <a:rPr lang="en-US" sz="127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75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0" y="952500"/>
            <a:ext cx="8572500" cy="8286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42801"/>
            <a:ext cx="3273188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ROUTING &amp; COST STRATEGY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059919" y="358676"/>
            <a:ext cx="542280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52500"/>
            <a:ext cx="17266920" cy="645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87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FAQ-first, embedding-based routing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762000" y="1712392"/>
            <a:ext cx="17266920" cy="4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embedding call per query. No LLM used for routing decisions.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62000" y="2464842"/>
            <a:ext cx="904377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9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LOGIC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762000" y="2822029"/>
            <a:ext cx="8780363" cy="5196582"/>
          </a:xfrm>
          <a:prstGeom prst="roundRect">
            <a:avLst>
              <a:gd name="adj" fmla="val 1100"/>
            </a:avLst>
          </a:prstGeom>
          <a:solidFill>
            <a:srgbClr val="1E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04900" y="3088729"/>
            <a:ext cx="8357974" cy="470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275" dirty="0">
                <a:solidFill>
                  <a:srgbClr val="6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q_emb = embed(query)       # 1 call, reused sim = cosine(q_emb, faq_store) </a:t>
            </a:r>
            <a:r>
              <a:rPr lang="en-US" sz="1275" dirty="0">
                <a:solidFill>
                  <a:srgbClr val="5F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sim ≥ τ_high:</a:t>
            </a:r>
            <a:r>
              <a:rPr lang="en-US" sz="1275" dirty="0">
                <a:solidFill>
                  <a:srgbClr val="D4D0C8"/>
                </a:solidFill>
                <a:highlight>
                  <a:srgbClr val="1E1D1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      </a:t>
            </a:r>
            <a:r>
              <a:rPr lang="en-US" sz="1275" dirty="0">
                <a:solidFill>
                  <a:srgbClr val="6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e.g. 0.92 </a:t>
            </a:r>
            <a:r>
              <a:rPr lang="en-US" sz="1275" dirty="0">
                <a:solidFill>
                  <a:srgbClr val="D4D0C8"/>
                </a:solidFill>
                <a:highlight>
                  <a:srgbClr val="1E1D1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r>
              <a:rPr lang="en-US" sz="1275" dirty="0">
                <a:solidFill>
                  <a:srgbClr val="6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cached_answer      # 0 LLM calls </a:t>
            </a:r>
            <a:r>
              <a:rPr lang="en-US" sz="1275" dirty="0">
                <a:solidFill>
                  <a:srgbClr val="5F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= classifier(q_emb)</a:t>
            </a:r>
            <a:r>
              <a:rPr lang="en-US" sz="1275" dirty="0">
                <a:solidFill>
                  <a:srgbClr val="D4D0C8"/>
                </a:solidFill>
                <a:highlight>
                  <a:srgbClr val="1E1D1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lang="en-US" sz="1275" dirty="0">
                <a:solidFill>
                  <a:srgbClr val="6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linear probe                           # → {code, papers, both} </a:t>
            </a:r>
            <a:r>
              <a:rPr lang="en-US" sz="1275" dirty="0">
                <a:solidFill>
                  <a:srgbClr val="5F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route == "code": </a:t>
            </a:r>
            <a:r>
              <a:rPr lang="en-US" sz="1275" dirty="0">
                <a:solidFill>
                  <a:srgbClr val="D4D0C8"/>
                </a:solidFill>
                <a:highlight>
                  <a:srgbClr val="1E1D1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r>
              <a:rPr lang="en-US" sz="1275" dirty="0">
                <a:solidFill>
                  <a:srgbClr val="6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retrieve(code_store, q_emb) </a:t>
            </a:r>
            <a:r>
              <a:rPr lang="en-US" sz="1275" dirty="0">
                <a:solidFill>
                  <a:srgbClr val="5F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elif route == "papers": </a:t>
            </a:r>
            <a:r>
              <a:rPr lang="en-US" sz="1275" dirty="0">
                <a:solidFill>
                  <a:srgbClr val="D4D0C8"/>
                </a:solidFill>
                <a:highlight>
                  <a:srgbClr val="1E1D1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r>
              <a:rPr lang="en-US" sz="1275" dirty="0">
                <a:solidFill>
                  <a:srgbClr val="6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retrieve(paper_store, q_emb) </a:t>
            </a:r>
            <a:r>
              <a:rPr lang="en-US" sz="1275" dirty="0">
                <a:solidFill>
                  <a:srgbClr val="5F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else: </a:t>
            </a:r>
            <a:r>
              <a:rPr lang="en-US" sz="1275" dirty="0">
                <a:solidFill>
                  <a:srgbClr val="D4D0C8"/>
                </a:solidFill>
                <a:highlight>
                  <a:srgbClr val="1E1D1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r>
              <a:rPr lang="en-US" sz="1275" dirty="0">
                <a:solidFill>
                  <a:srgbClr val="6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retrieve(both)            # parallel fan-out </a:t>
            </a:r>
            <a:r>
              <a:rPr lang="en-US" sz="1275" dirty="0">
                <a:solidFill>
                  <a:srgbClr val="D4D0C8"/>
                </a:solidFill>
                <a:highlight>
                  <a:srgbClr val="1E1D1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0209113" y="2464842"/>
            <a:ext cx="753639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9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CALLS PER PATH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10209113" y="3279180"/>
            <a:ext cx="3571627" cy="1587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99613" y="2955379"/>
            <a:ext cx="3297776" cy="22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80740" y="3279180"/>
            <a:ext cx="3745260" cy="1587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971240" y="2955379"/>
            <a:ext cx="3476618" cy="22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209113" y="3941837"/>
            <a:ext cx="3571627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99613" y="3466505"/>
            <a:ext cx="3297776" cy="341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Out-of-scope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13780740" y="3941837"/>
            <a:ext cx="374526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971240" y="3518917"/>
            <a:ext cx="227831" cy="228451"/>
          </a:xfrm>
          <a:prstGeom prst="roundRect">
            <a:avLst>
              <a:gd name="adj" fmla="val 12542"/>
            </a:avLst>
          </a:prstGeom>
          <a:solidFill>
            <a:srgbClr val="EE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037915" y="3537967"/>
            <a:ext cx="170681" cy="228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39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39" dirty="0"/>
          </a:p>
        </p:txBody>
      </p:sp>
      <p:sp>
        <p:nvSpPr>
          <p:cNvPr id="19" name="Text 17"/>
          <p:cNvSpPr/>
          <p:nvPr/>
        </p:nvSpPr>
        <p:spPr>
          <a:xfrm>
            <a:off x="14254758" y="3545830"/>
            <a:ext cx="1408460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response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10209113" y="4592588"/>
            <a:ext cx="3571627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99613" y="4121224"/>
            <a:ext cx="3297776" cy="338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cache hit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13780740" y="4592588"/>
            <a:ext cx="374526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3971240" y="4169668"/>
            <a:ext cx="227831" cy="228451"/>
          </a:xfrm>
          <a:prstGeom prst="roundRect">
            <a:avLst>
              <a:gd name="adj" fmla="val 12542"/>
            </a:avLst>
          </a:prstGeom>
          <a:solidFill>
            <a:srgbClr val="EE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037915" y="4188718"/>
            <a:ext cx="170681" cy="228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39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39" dirty="0"/>
          </a:p>
        </p:txBody>
      </p:sp>
      <p:sp>
        <p:nvSpPr>
          <p:cNvPr id="25" name="Text 23"/>
          <p:cNvSpPr/>
          <p:nvPr/>
        </p:nvSpPr>
        <p:spPr>
          <a:xfrm>
            <a:off x="14254758" y="4172769"/>
            <a:ext cx="37224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0209113" y="5243339"/>
            <a:ext cx="3571627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399613" y="4771975"/>
            <a:ext cx="3297776" cy="338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Code-only query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13780740" y="5243339"/>
            <a:ext cx="374526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3971240" y="4820419"/>
            <a:ext cx="227831" cy="228451"/>
          </a:xfrm>
          <a:prstGeom prst="roundRect">
            <a:avLst>
              <a:gd name="adj" fmla="val 12542"/>
            </a:avLst>
          </a:prstGeom>
          <a:solidFill>
            <a:srgbClr val="EE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4037915" y="4839469"/>
            <a:ext cx="170681" cy="228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39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39" dirty="0"/>
          </a:p>
        </p:txBody>
      </p:sp>
      <p:sp>
        <p:nvSpPr>
          <p:cNvPr id="31" name="Text 29"/>
          <p:cNvSpPr/>
          <p:nvPr/>
        </p:nvSpPr>
        <p:spPr>
          <a:xfrm>
            <a:off x="14254758" y="4847332"/>
            <a:ext cx="1025599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 retry max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10209113" y="5894089"/>
            <a:ext cx="3571627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399613" y="5422726"/>
            <a:ext cx="3297776" cy="338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Paper-only query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13780740" y="5894089"/>
            <a:ext cx="374526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3971240" y="5471170"/>
            <a:ext cx="227831" cy="228451"/>
          </a:xfrm>
          <a:prstGeom prst="roundRect">
            <a:avLst>
              <a:gd name="adj" fmla="val 12542"/>
            </a:avLst>
          </a:prstGeom>
          <a:solidFill>
            <a:srgbClr val="EE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4037915" y="5490220"/>
            <a:ext cx="170681" cy="228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39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39" dirty="0"/>
          </a:p>
        </p:txBody>
      </p:sp>
      <p:sp>
        <p:nvSpPr>
          <p:cNvPr id="37" name="Text 35"/>
          <p:cNvSpPr/>
          <p:nvPr/>
        </p:nvSpPr>
        <p:spPr>
          <a:xfrm>
            <a:off x="14254758" y="5498083"/>
            <a:ext cx="1025599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 retry max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10399613" y="6073477"/>
            <a:ext cx="3297776" cy="341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+ papers</a:t>
            </a:r>
            <a:endParaRPr lang="en-US" sz="1575" dirty="0"/>
          </a:p>
        </p:txBody>
      </p:sp>
      <p:sp>
        <p:nvSpPr>
          <p:cNvPr id="39" name="Shape 37"/>
          <p:cNvSpPr/>
          <p:nvPr/>
        </p:nvSpPr>
        <p:spPr>
          <a:xfrm>
            <a:off x="13971240" y="6121921"/>
            <a:ext cx="227831" cy="228451"/>
          </a:xfrm>
          <a:prstGeom prst="roundRect">
            <a:avLst>
              <a:gd name="adj" fmla="val 12542"/>
            </a:avLst>
          </a:prstGeom>
          <a:solidFill>
            <a:srgbClr val="EE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4037915" y="6140971"/>
            <a:ext cx="170681" cy="228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39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39" dirty="0"/>
          </a:p>
        </p:txBody>
      </p:sp>
      <p:sp>
        <p:nvSpPr>
          <p:cNvPr id="41" name="Text 39"/>
          <p:cNvSpPr/>
          <p:nvPr/>
        </p:nvSpPr>
        <p:spPr>
          <a:xfrm>
            <a:off x="14254758" y="6148834"/>
            <a:ext cx="1192287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context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10209113" y="6815460"/>
            <a:ext cx="753639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9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10209113" y="7115473"/>
            <a:ext cx="7536393" cy="647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Cross-encoder (e.g. </a:t>
            </a:r>
            <a:r>
              <a:rPr lang="en-US" sz="1320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ms-marco-MiniLM </a:t>
            </a:r>
            <a:r>
              <a:rPr lang="en-US" sz="150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runs locally — no API cost, no latency dependency. Deduplicates overlapping code + paper hits before the generate step.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42801"/>
            <a:ext cx="2634723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MEMORY &amp; CITATIONS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059919" y="358676"/>
            <a:ext cx="542280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52500"/>
            <a:ext cx="17266920" cy="645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87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memory. Verifiable citations.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762000" y="1979166"/>
            <a:ext cx="829008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9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MEMORY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762000" y="2412504"/>
            <a:ext cx="8048625" cy="7341195"/>
          </a:xfrm>
          <a:prstGeom prst="roundRect">
            <a:avLst>
              <a:gd name="adj" fmla="val 778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5687" y="2649017"/>
            <a:ext cx="7685087" cy="655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summary </a:t>
            </a:r>
            <a:r>
              <a:rPr lang="en-US" sz="15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(≤ 200 tokens) + last 2 turns verbatim. No growing transcript — history is compressed, not appended.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55687" y="3456905"/>
            <a:ext cx="7461250" cy="1419448"/>
          </a:xfrm>
          <a:prstGeom prst="roundRect">
            <a:avLst>
              <a:gd name="adj" fmla="val 3355"/>
            </a:avLst>
          </a:prstGeom>
          <a:solidFill>
            <a:srgbClr val="F7F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65163" y="3628306"/>
            <a:ext cx="725356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RESOLUTION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65163" y="3882305"/>
            <a:ext cx="7253568" cy="8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</a:t>
            </a:r>
            <a:r>
              <a:rPr lang="en-US" sz="1350" i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"where is that called from?" </a:t>
            </a:r>
            <a:r>
              <a:rPr lang="en-US" sz="135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prepend rolling summary to new query → re-run retrieval → no need to re-send full prior context to LLM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5687" y="5066854"/>
            <a:ext cx="7685087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context token cost flat regardless of conversation length.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477375" y="1979166"/>
            <a:ext cx="829008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9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STRATEGY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9477375" y="2869654"/>
            <a:ext cx="2537271" cy="1587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67875" y="2545854"/>
            <a:ext cx="2232471" cy="22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TYPE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014646" y="2869654"/>
            <a:ext cx="5511353" cy="1587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205146" y="2545854"/>
            <a:ext cx="5295694" cy="22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FORMAT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77375" y="4689574"/>
            <a:ext cx="2537271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67875" y="3056979"/>
            <a:ext cx="2232471" cy="1499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function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2014646" y="4689574"/>
            <a:ext cx="5511353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205146" y="3125267"/>
            <a:ext cx="2157884" cy="204639"/>
          </a:xfrm>
          <a:prstGeom prst="roundRect">
            <a:avLst>
              <a:gd name="adj" fmla="val 13964"/>
            </a:avLst>
          </a:prstGeom>
          <a:solidFill>
            <a:srgbClr val="EE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271821" y="3144317"/>
            <a:ext cx="2100734" cy="204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qualified_name · file:line_start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205146" y="3444255"/>
            <a:ext cx="364415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YAML frontmatter — no LLM inference needed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77375" y="6493991"/>
            <a:ext cx="2537271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67875" y="4868962"/>
            <a:ext cx="2232471" cy="1491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paper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2014646" y="6493991"/>
            <a:ext cx="5511353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2205146" y="4933280"/>
            <a:ext cx="1708919" cy="204639"/>
          </a:xfrm>
          <a:prstGeom prst="roundRect">
            <a:avLst>
              <a:gd name="adj" fmla="val 13964"/>
            </a:avLst>
          </a:prstGeom>
          <a:solidFill>
            <a:srgbClr val="EE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271821" y="4952330"/>
            <a:ext cx="1651769" cy="204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paper_id §section · p.N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205146" y="5252268"/>
            <a:ext cx="216016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Section-chunked at ingest time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67875" y="6673379"/>
            <a:ext cx="2232471" cy="1492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entry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2205146" y="6737697"/>
            <a:ext cx="785688" cy="204639"/>
          </a:xfrm>
          <a:prstGeom prst="roundRect">
            <a:avLst>
              <a:gd name="adj" fmla="val 13964"/>
            </a:avLst>
          </a:prstGeom>
          <a:solidFill>
            <a:srgbClr val="EE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271821" y="6756747"/>
            <a:ext cx="728538" cy="204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#{id}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205146" y="7056686"/>
            <a:ext cx="268722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original sources from curation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477375" y="8565554"/>
            <a:ext cx="8048625" cy="1188144"/>
          </a:xfrm>
          <a:prstGeom prst="roundRect">
            <a:avLst>
              <a:gd name="adj" fmla="val 4810"/>
            </a:avLst>
          </a:prstGeom>
          <a:solidFill>
            <a:srgbClr val="EEEDEA"/>
          </a:solidFill>
          <a:ln w="7937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713887" y="8763992"/>
            <a:ext cx="780286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CITE_CHECK NODE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713887" y="8998893"/>
            <a:ext cx="7802867" cy="5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/ regex check — every claim in the generated answer must match a retrieved source identifier. If not, triggers one retry. </a:t>
            </a:r>
            <a:r>
              <a:rPr lang="en-US" sz="1350" b="1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LLM calls.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42801"/>
            <a:ext cx="1758082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TECH STACK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059919" y="358676"/>
            <a:ext cx="542280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52500"/>
            <a:ext cx="17266920" cy="645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87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— fixed decisions and open choices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762000" y="2436316"/>
            <a:ext cx="1905000" cy="1587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2500" y="2112516"/>
            <a:ext cx="1600200" cy="22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67000" y="2436316"/>
            <a:ext cx="3048000" cy="1587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57500" y="2112516"/>
            <a:ext cx="2758440" cy="22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CANDIDATE(S)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15000" y="2436316"/>
            <a:ext cx="10287000" cy="1587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05500" y="2112516"/>
            <a:ext cx="10214610" cy="22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002000" y="2436316"/>
            <a:ext cx="1524000" cy="1587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192500" y="2112516"/>
            <a:ext cx="1219200" cy="22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2000" y="3116337"/>
            <a:ext cx="1905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2500" y="2623641"/>
            <a:ext cx="1600200" cy="359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2667000" y="3116337"/>
            <a:ext cx="3048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57500" y="2676054"/>
            <a:ext cx="984002" cy="228451"/>
          </a:xfrm>
          <a:prstGeom prst="roundRect">
            <a:avLst>
              <a:gd name="adj" fmla="val 12508"/>
            </a:avLst>
          </a:prstGeom>
          <a:solidFill>
            <a:srgbClr val="EE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24175" y="2695104"/>
            <a:ext cx="926852" cy="228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39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339" dirty="0"/>
          </a:p>
        </p:txBody>
      </p:sp>
      <p:sp>
        <p:nvSpPr>
          <p:cNvPr id="18" name="Shape 16"/>
          <p:cNvSpPr/>
          <p:nvPr/>
        </p:nvSpPr>
        <p:spPr>
          <a:xfrm>
            <a:off x="5715000" y="3116337"/>
            <a:ext cx="10287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05500" y="2623641"/>
            <a:ext cx="10214610" cy="359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fan-out, conditional edges, streaming — matches our pipeline exactly.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6002000" y="3116337"/>
            <a:ext cx="1524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6192500" y="2656954"/>
            <a:ext cx="570260" cy="291951"/>
          </a:xfrm>
          <a:prstGeom prst="roundRect">
            <a:avLst>
              <a:gd name="adj" fmla="val 9788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314737" y="2702992"/>
            <a:ext cx="401985" cy="23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2000" y="3784451"/>
            <a:ext cx="1905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52500" y="3295724"/>
            <a:ext cx="1600200" cy="35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traversal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2667000" y="3784451"/>
            <a:ext cx="3048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57500" y="3295724"/>
            <a:ext cx="2758440" cy="35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NetworkX </a:t>
            </a: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(in-memory)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5715000" y="3784451"/>
            <a:ext cx="10287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05500" y="3295724"/>
            <a:ext cx="10214610" cy="35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graph.json </a:t>
            </a: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small (~hundreds of nodes). No separate DB process needed.</a:t>
            </a:r>
            <a:endParaRPr lang="en-US" sz="1575" dirty="0"/>
          </a:p>
        </p:txBody>
      </p:sp>
      <p:sp>
        <p:nvSpPr>
          <p:cNvPr id="29" name="Shape 27"/>
          <p:cNvSpPr/>
          <p:nvPr/>
        </p:nvSpPr>
        <p:spPr>
          <a:xfrm>
            <a:off x="16002000" y="3784451"/>
            <a:ext cx="1524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6192500" y="3325068"/>
            <a:ext cx="570260" cy="291951"/>
          </a:xfrm>
          <a:prstGeom prst="roundRect">
            <a:avLst>
              <a:gd name="adj" fmla="val 9788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6314737" y="3371106"/>
            <a:ext cx="401985" cy="23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2000" y="4452565"/>
            <a:ext cx="1905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52500" y="3963839"/>
            <a:ext cx="1600200" cy="35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2667000" y="4452565"/>
            <a:ext cx="3048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857500" y="4012282"/>
            <a:ext cx="2032000" cy="228451"/>
          </a:xfrm>
          <a:prstGeom prst="roundRect">
            <a:avLst>
              <a:gd name="adj" fmla="val 12508"/>
            </a:avLst>
          </a:prstGeom>
          <a:solidFill>
            <a:srgbClr val="EE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924175" y="4031332"/>
            <a:ext cx="1974850" cy="228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39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ms-marco-MiniLM-L-6-v2</a:t>
            </a:r>
            <a:endParaRPr lang="en-US" sz="1339" dirty="0"/>
          </a:p>
        </p:txBody>
      </p:sp>
      <p:sp>
        <p:nvSpPr>
          <p:cNvPr id="37" name="Shape 35"/>
          <p:cNvSpPr/>
          <p:nvPr/>
        </p:nvSpPr>
        <p:spPr>
          <a:xfrm>
            <a:off x="5715000" y="4452565"/>
            <a:ext cx="10287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05500" y="3963839"/>
            <a:ext cx="10214610" cy="35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locally, no API cost. Standard cross-encoder for passage reranking.</a:t>
            </a:r>
            <a:endParaRPr lang="en-US" sz="1575" dirty="0"/>
          </a:p>
        </p:txBody>
      </p:sp>
      <p:sp>
        <p:nvSpPr>
          <p:cNvPr id="39" name="Shape 37"/>
          <p:cNvSpPr/>
          <p:nvPr/>
        </p:nvSpPr>
        <p:spPr>
          <a:xfrm>
            <a:off x="16002000" y="4452565"/>
            <a:ext cx="1524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6192500" y="3993182"/>
            <a:ext cx="570260" cy="291951"/>
          </a:xfrm>
          <a:prstGeom prst="roundRect">
            <a:avLst>
              <a:gd name="adj" fmla="val 9788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6314737" y="4039220"/>
            <a:ext cx="401985" cy="23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2000" y="5403329"/>
            <a:ext cx="1905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52500" y="4631953"/>
            <a:ext cx="1600200" cy="638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1575" dirty="0"/>
          </a:p>
        </p:txBody>
      </p:sp>
      <p:sp>
        <p:nvSpPr>
          <p:cNvPr id="44" name="Shape 42"/>
          <p:cNvSpPr/>
          <p:nvPr/>
        </p:nvSpPr>
        <p:spPr>
          <a:xfrm>
            <a:off x="2667000" y="5403329"/>
            <a:ext cx="3048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857500" y="4631953"/>
            <a:ext cx="2758440" cy="638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Chroma </a:t>
            </a: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LanceDB </a:t>
            </a: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1575" dirty="0"/>
          </a:p>
        </p:txBody>
      </p:sp>
      <p:sp>
        <p:nvSpPr>
          <p:cNvPr id="46" name="Shape 44"/>
          <p:cNvSpPr/>
          <p:nvPr/>
        </p:nvSpPr>
        <p:spPr>
          <a:xfrm>
            <a:off x="5715000" y="5403329"/>
            <a:ext cx="10287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905500" y="4631953"/>
            <a:ext cx="10214610" cy="638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 / LanceDB for local prototype (free, zero infra). Pinecone / Weaviate if hosted scale is needed.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16002000" y="5403329"/>
            <a:ext cx="1524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6192500" y="4661297"/>
            <a:ext cx="570384" cy="291951"/>
          </a:xfrm>
          <a:prstGeom prst="roundRect">
            <a:avLst>
              <a:gd name="adj" fmla="val 9788"/>
            </a:avLst>
          </a:prstGeom>
          <a:solidFill>
            <a:srgbClr val="FEF3E4"/>
          </a:solidFill>
          <a:ln w="7937">
            <a:solidFill>
              <a:srgbClr val="DDB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6314737" y="4707334"/>
            <a:ext cx="402109" cy="23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A06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62000" y="6369967"/>
            <a:ext cx="1905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52500" y="5582716"/>
            <a:ext cx="1600200" cy="653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model</a:t>
            </a:r>
            <a:endParaRPr lang="en-US" sz="1575" dirty="0"/>
          </a:p>
        </p:txBody>
      </p:sp>
      <p:sp>
        <p:nvSpPr>
          <p:cNvPr id="53" name="Shape 51"/>
          <p:cNvSpPr/>
          <p:nvPr/>
        </p:nvSpPr>
        <p:spPr>
          <a:xfrm>
            <a:off x="2667000" y="6369967"/>
            <a:ext cx="3048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857500" y="5582716"/>
            <a:ext cx="2758440" cy="653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text-embedding-3-small </a:t>
            </a: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open alternatives</a:t>
            </a:r>
            <a:endParaRPr lang="en-US" sz="1575" dirty="0"/>
          </a:p>
        </p:txBody>
      </p:sp>
      <p:sp>
        <p:nvSpPr>
          <p:cNvPr id="55" name="Shape 53"/>
          <p:cNvSpPr/>
          <p:nvPr/>
        </p:nvSpPr>
        <p:spPr>
          <a:xfrm>
            <a:off x="5715000" y="6369967"/>
            <a:ext cx="10287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905500" y="5582716"/>
            <a:ext cx="10214610" cy="653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is cheap + strong baseline. Could swap to local model to eliminate API dependency.</a:t>
            </a:r>
            <a:endParaRPr lang="en-US" sz="1575" dirty="0"/>
          </a:p>
        </p:txBody>
      </p:sp>
      <p:sp>
        <p:nvSpPr>
          <p:cNvPr id="57" name="Shape 55"/>
          <p:cNvSpPr/>
          <p:nvPr/>
        </p:nvSpPr>
        <p:spPr>
          <a:xfrm>
            <a:off x="16002000" y="6369967"/>
            <a:ext cx="1524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6192500" y="5612060"/>
            <a:ext cx="570384" cy="291951"/>
          </a:xfrm>
          <a:prstGeom prst="roundRect">
            <a:avLst>
              <a:gd name="adj" fmla="val 9788"/>
            </a:avLst>
          </a:prstGeom>
          <a:solidFill>
            <a:srgbClr val="FEF3E4"/>
          </a:solidFill>
          <a:ln w="7937">
            <a:solidFill>
              <a:srgbClr val="DDB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6314737" y="5658098"/>
            <a:ext cx="402109" cy="23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A06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62000" y="7038082"/>
            <a:ext cx="1905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52500" y="6549355"/>
            <a:ext cx="1600200" cy="35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(generate)</a:t>
            </a:r>
            <a:endParaRPr lang="en-US" sz="1575" dirty="0"/>
          </a:p>
        </p:txBody>
      </p:sp>
      <p:sp>
        <p:nvSpPr>
          <p:cNvPr id="62" name="Shape 60"/>
          <p:cNvSpPr/>
          <p:nvPr/>
        </p:nvSpPr>
        <p:spPr>
          <a:xfrm>
            <a:off x="2667000" y="7038082"/>
            <a:ext cx="3048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857500" y="6549355"/>
            <a:ext cx="2758440" cy="35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claude-haiku-4-5 </a:t>
            </a: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gpt-4o-mini</a:t>
            </a:r>
            <a:endParaRPr lang="en-US" sz="1575" dirty="0"/>
          </a:p>
        </p:txBody>
      </p:sp>
      <p:sp>
        <p:nvSpPr>
          <p:cNvPr id="64" name="Shape 62"/>
          <p:cNvSpPr/>
          <p:nvPr/>
        </p:nvSpPr>
        <p:spPr>
          <a:xfrm>
            <a:off x="5715000" y="7038082"/>
            <a:ext cx="10287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905500" y="6549355"/>
            <a:ext cx="10214610" cy="35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fast, cheap. One call per novel query. Haiku preferred for latency.</a:t>
            </a:r>
            <a:endParaRPr lang="en-US" sz="1575" dirty="0"/>
          </a:p>
        </p:txBody>
      </p:sp>
      <p:sp>
        <p:nvSpPr>
          <p:cNvPr id="66" name="Shape 64"/>
          <p:cNvSpPr/>
          <p:nvPr/>
        </p:nvSpPr>
        <p:spPr>
          <a:xfrm>
            <a:off x="16002000" y="7038082"/>
            <a:ext cx="1524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6192500" y="6578699"/>
            <a:ext cx="570384" cy="291951"/>
          </a:xfrm>
          <a:prstGeom prst="roundRect">
            <a:avLst>
              <a:gd name="adj" fmla="val 9788"/>
            </a:avLst>
          </a:prstGeom>
          <a:solidFill>
            <a:srgbClr val="FEF3E4"/>
          </a:solidFill>
          <a:ln w="7937">
            <a:solidFill>
              <a:srgbClr val="DDB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6314737" y="6624737"/>
            <a:ext cx="402109" cy="23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A06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62000" y="7706196"/>
            <a:ext cx="1905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952500" y="7217469"/>
            <a:ext cx="1600200" cy="35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API</a:t>
            </a:r>
            <a:endParaRPr lang="en-US" sz="1575" dirty="0"/>
          </a:p>
        </p:txBody>
      </p:sp>
      <p:sp>
        <p:nvSpPr>
          <p:cNvPr id="71" name="Shape 69"/>
          <p:cNvSpPr/>
          <p:nvPr/>
        </p:nvSpPr>
        <p:spPr>
          <a:xfrm>
            <a:off x="2667000" y="7706196"/>
            <a:ext cx="3048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857500" y="7265913"/>
            <a:ext cx="737939" cy="228451"/>
          </a:xfrm>
          <a:prstGeom prst="roundRect">
            <a:avLst>
              <a:gd name="adj" fmla="val 12508"/>
            </a:avLst>
          </a:prstGeom>
          <a:solidFill>
            <a:srgbClr val="EE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924175" y="7284963"/>
            <a:ext cx="680789" cy="228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39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39" dirty="0"/>
          </a:p>
        </p:txBody>
      </p:sp>
      <p:sp>
        <p:nvSpPr>
          <p:cNvPr id="74" name="Shape 72"/>
          <p:cNvSpPr/>
          <p:nvPr/>
        </p:nvSpPr>
        <p:spPr>
          <a:xfrm>
            <a:off x="5715000" y="7706196"/>
            <a:ext cx="10287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905500" y="7217469"/>
            <a:ext cx="10214610" cy="35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wrapper around LangGraph. Exposes </a:t>
            </a: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/chat </a:t>
            </a: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for the widget.</a:t>
            </a:r>
            <a:endParaRPr lang="en-US" sz="1575" dirty="0"/>
          </a:p>
        </p:txBody>
      </p:sp>
      <p:sp>
        <p:nvSpPr>
          <p:cNvPr id="76" name="Shape 74"/>
          <p:cNvSpPr/>
          <p:nvPr/>
        </p:nvSpPr>
        <p:spPr>
          <a:xfrm>
            <a:off x="16002000" y="7706196"/>
            <a:ext cx="1524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6192500" y="7246813"/>
            <a:ext cx="570260" cy="291951"/>
          </a:xfrm>
          <a:prstGeom prst="roundRect">
            <a:avLst>
              <a:gd name="adj" fmla="val 9788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6314737" y="7292851"/>
            <a:ext cx="401985" cy="23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952500" y="7885584"/>
            <a:ext cx="1600200" cy="359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widget</a:t>
            </a:r>
            <a:endParaRPr lang="en-US" sz="1575" dirty="0"/>
          </a:p>
        </p:txBody>
      </p:sp>
      <p:sp>
        <p:nvSpPr>
          <p:cNvPr id="80" name="Text 78"/>
          <p:cNvSpPr/>
          <p:nvPr/>
        </p:nvSpPr>
        <p:spPr>
          <a:xfrm>
            <a:off x="2857500" y="7885584"/>
            <a:ext cx="2758440" cy="359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Embeddable JS chat widget</a:t>
            </a:r>
            <a:endParaRPr lang="en-US" sz="1575" dirty="0"/>
          </a:p>
        </p:txBody>
      </p:sp>
      <p:sp>
        <p:nvSpPr>
          <p:cNvPr id="81" name="Text 79"/>
          <p:cNvSpPr/>
          <p:nvPr/>
        </p:nvSpPr>
        <p:spPr>
          <a:xfrm>
            <a:off x="5905500" y="7885584"/>
            <a:ext cx="10214610" cy="359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Drops into existing website with a single </a:t>
            </a: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&lt;script&gt; </a:t>
            </a: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tag.</a:t>
            </a:r>
            <a:endParaRPr lang="en-US" sz="1575" dirty="0"/>
          </a:p>
        </p:txBody>
      </p:sp>
      <p:sp>
        <p:nvSpPr>
          <p:cNvPr id="82" name="Shape 80"/>
          <p:cNvSpPr/>
          <p:nvPr/>
        </p:nvSpPr>
        <p:spPr>
          <a:xfrm>
            <a:off x="16192500" y="7914927"/>
            <a:ext cx="570260" cy="291951"/>
          </a:xfrm>
          <a:prstGeom prst="roundRect">
            <a:avLst>
              <a:gd name="adj" fmla="val 9788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16314737" y="7960965"/>
            <a:ext cx="401985" cy="23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762000" y="8568779"/>
            <a:ext cx="593948" cy="258713"/>
          </a:xfrm>
          <a:prstGeom prst="roundRect">
            <a:avLst>
              <a:gd name="adj" fmla="val 11045"/>
            </a:avLst>
          </a:prstGeom>
          <a:solidFill>
            <a:srgbClr val="FEF3E4"/>
          </a:solidFill>
          <a:ln w="7937">
            <a:solidFill>
              <a:srgbClr val="DDB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884237" y="8614817"/>
            <a:ext cx="425673" cy="204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A06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25" dirty="0"/>
          </a:p>
        </p:txBody>
      </p:sp>
      <p:sp>
        <p:nvSpPr>
          <p:cNvPr id="86" name="Text 84"/>
          <p:cNvSpPr/>
          <p:nvPr/>
        </p:nvSpPr>
        <p:spPr>
          <a:xfrm>
            <a:off x="1508249" y="8594948"/>
            <a:ext cx="4153984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decision where your input is wanted — see slide 11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42801"/>
            <a:ext cx="2464519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— WEBSITE REDESIGN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059919" y="358676"/>
            <a:ext cx="542280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52500"/>
            <a:ext cx="17266920" cy="645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87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website becomes a knowledge environment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762000" y="1712392"/>
            <a:ext cx="17266920" cy="4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components, one surface — graph explorer, workflow tracer, and chatbot working together.</a:t>
            </a:r>
            <a:endParaRPr lang="en-US" sz="1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347020"/>
            <a:ext cx="15240000" cy="5524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42801"/>
            <a:ext cx="3161156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— INTERACTIVE CODE GRAPH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059919" y="358676"/>
            <a:ext cx="542280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52500"/>
            <a:ext cx="17266920" cy="645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87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graph.json → live, navigable visualization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762000" y="1712392"/>
            <a:ext cx="17266920" cy="4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graph we already use for retrieval becomes the primary navigation surface of the website.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62000" y="2464842"/>
            <a:ext cx="833913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9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GETS RENDERED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762000" y="3417218"/>
            <a:ext cx="809625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8700" y="2993429"/>
            <a:ext cx="8072438" cy="366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— every function and class in the codebase. Sized by call-degree.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762000" y="4272731"/>
            <a:ext cx="809625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" y="3520405"/>
            <a:ext cx="8072438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— caller → callee directed edges from </a:t>
            </a:r>
            <a:r>
              <a:rPr lang="en-US" sz="1518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graph.json </a:t>
            </a: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Already computed, zero extra work.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762000" y="4799707"/>
            <a:ext cx="809625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8700" y="4375919"/>
            <a:ext cx="8072438" cy="366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— color-coded by module; visible as soft clusters.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028700" y="4902894"/>
            <a:ext cx="8072438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/ pan — standard graph navigation. Force-directed layout with module gravity.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62000" y="5998021"/>
            <a:ext cx="833913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9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 NODE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762000" y="6950397"/>
            <a:ext cx="809625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28700" y="6526609"/>
            <a:ext cx="8072438" cy="366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panel loads the </a:t>
            </a:r>
            <a:r>
              <a:rPr lang="en-US" sz="1518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.md </a:t>
            </a: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doc: signature, parameters, docstring, source snippet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762000" y="7477373"/>
            <a:ext cx="809625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8700" y="7053585"/>
            <a:ext cx="8072438" cy="366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chatbot context injection: "Ask about </a:t>
            </a:r>
            <a:r>
              <a:rPr lang="en-US" sz="1518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solve()</a:t>
            </a: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028700" y="7580561"/>
            <a:ext cx="8072438" cy="366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1-hop neighbors highlighted; rest dimmed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762000" y="8474273"/>
            <a:ext cx="8096250" cy="1279426"/>
          </a:xfrm>
          <a:prstGeom prst="roundRect">
            <a:avLst>
              <a:gd name="adj" fmla="val 4467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55687" y="8710786"/>
            <a:ext cx="773414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55687" y="8945687"/>
            <a:ext cx="773414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20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graph.json </a:t>
            </a:r>
            <a:r>
              <a:rPr lang="en-US" sz="15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already the retrieval backbone. The visualization is a zero-cost frontend layer on top of it — no new graph computation needed.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29750" y="2464842"/>
            <a:ext cx="833913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9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MODEL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9429750" y="3355330"/>
            <a:ext cx="2247925" cy="1587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20250" y="3031529"/>
            <a:ext cx="1943125" cy="22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677674" y="3355330"/>
            <a:ext cx="5848325" cy="1587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868174" y="3031529"/>
            <a:ext cx="5642775" cy="22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429750" y="4017987"/>
            <a:ext cx="2247925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20250" y="3542655"/>
            <a:ext cx="1943125" cy="341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node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1677674" y="4017987"/>
            <a:ext cx="5848325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868174" y="3542655"/>
            <a:ext cx="5642775" cy="341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</a:t>
            </a:r>
            <a:r>
              <a:rPr lang="en-US" sz="1339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.md </a:t>
            </a: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panel + pre-fill chatbot context</a:t>
            </a:r>
            <a:endParaRPr lang="en-US" sz="1575" dirty="0"/>
          </a:p>
        </p:txBody>
      </p:sp>
      <p:sp>
        <p:nvSpPr>
          <p:cNvPr id="32" name="Shape 30"/>
          <p:cNvSpPr/>
          <p:nvPr/>
        </p:nvSpPr>
        <p:spPr>
          <a:xfrm>
            <a:off x="9429750" y="4668738"/>
            <a:ext cx="2247925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620250" y="4197375"/>
            <a:ext cx="1943125" cy="338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node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11677674" y="4668738"/>
            <a:ext cx="5848325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868174" y="4197375"/>
            <a:ext cx="5642775" cy="338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tooltip: qualified name, module, call count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9429750" y="5319489"/>
            <a:ext cx="2247925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620250" y="4848126"/>
            <a:ext cx="1943125" cy="338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bar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11677674" y="5319489"/>
            <a:ext cx="5848325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868174" y="4848126"/>
            <a:ext cx="5642775" cy="338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+ zoom to matching nodes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9429750" y="5970240"/>
            <a:ext cx="2247925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620250" y="5498877"/>
            <a:ext cx="1943125" cy="338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filter</a:t>
            </a:r>
            <a:endParaRPr lang="en-US" sz="1575" dirty="0"/>
          </a:p>
        </p:txBody>
      </p:sp>
      <p:sp>
        <p:nvSpPr>
          <p:cNvPr id="42" name="Shape 40"/>
          <p:cNvSpPr/>
          <p:nvPr/>
        </p:nvSpPr>
        <p:spPr>
          <a:xfrm>
            <a:off x="11677674" y="5970240"/>
            <a:ext cx="5848325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1868174" y="5498877"/>
            <a:ext cx="5642775" cy="338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subgraph by module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9620250" y="6149628"/>
            <a:ext cx="1943125" cy="341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workflow</a:t>
            </a:r>
            <a:endParaRPr lang="en-US" sz="1575" dirty="0"/>
          </a:p>
        </p:txBody>
      </p:sp>
      <p:sp>
        <p:nvSpPr>
          <p:cNvPr id="45" name="Text 43"/>
          <p:cNvSpPr/>
          <p:nvPr/>
        </p:nvSpPr>
        <p:spPr>
          <a:xfrm>
            <a:off x="11868174" y="6149628"/>
            <a:ext cx="5642775" cy="341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path → highlight / fade (see slide 15)</a:t>
            </a:r>
            <a:endParaRPr lang="en-US" sz="1575" dirty="0"/>
          </a:p>
        </p:txBody>
      </p:sp>
      <p:sp>
        <p:nvSpPr>
          <p:cNvPr id="46" name="Text 44"/>
          <p:cNvSpPr/>
          <p:nvPr/>
        </p:nvSpPr>
        <p:spPr>
          <a:xfrm>
            <a:off x="9429750" y="6967761"/>
            <a:ext cx="833913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9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LIBRARIES</a:t>
            </a:r>
            <a:endParaRPr lang="en-US" sz="1125" dirty="0"/>
          </a:p>
        </p:txBody>
      </p:sp>
      <p:sp>
        <p:nvSpPr>
          <p:cNvPr id="47" name="Shape 45"/>
          <p:cNvSpPr/>
          <p:nvPr/>
        </p:nvSpPr>
        <p:spPr>
          <a:xfrm>
            <a:off x="9429750" y="7401098"/>
            <a:ext cx="8096250" cy="757039"/>
          </a:xfrm>
          <a:prstGeom prst="roundRect">
            <a:avLst>
              <a:gd name="adj" fmla="val 6291"/>
            </a:avLst>
          </a:prstGeom>
          <a:solidFill>
            <a:srgbClr val="EEEDEA"/>
          </a:solidFill>
          <a:ln w="7937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628187" y="7566174"/>
            <a:ext cx="1340321" cy="260201"/>
          </a:xfrm>
          <a:prstGeom prst="roundRect">
            <a:avLst>
              <a:gd name="adj" fmla="val 10982"/>
            </a:avLst>
          </a:prstGeom>
          <a:solidFill>
            <a:srgbClr val="EE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694862" y="7585224"/>
            <a:ext cx="1283171" cy="260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Cytoscape.js</a:t>
            </a:r>
            <a:endParaRPr lang="en-US" sz="1320" dirty="0"/>
          </a:p>
        </p:txBody>
      </p:sp>
      <p:sp>
        <p:nvSpPr>
          <p:cNvPr id="50" name="Text 48"/>
          <p:cNvSpPr/>
          <p:nvPr/>
        </p:nvSpPr>
        <p:spPr>
          <a:xfrm>
            <a:off x="9628187" y="7815337"/>
            <a:ext cx="5580886" cy="22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for biological/code graphs. Rich layout algorithms, styling API.</a:t>
            </a:r>
            <a:endParaRPr lang="en-US" sz="1275" dirty="0"/>
          </a:p>
        </p:txBody>
      </p:sp>
      <p:sp>
        <p:nvSpPr>
          <p:cNvPr id="51" name="Shape 49"/>
          <p:cNvSpPr/>
          <p:nvPr/>
        </p:nvSpPr>
        <p:spPr>
          <a:xfrm>
            <a:off x="16527611" y="7654230"/>
            <a:ext cx="799951" cy="250775"/>
          </a:xfrm>
          <a:prstGeom prst="roundRect">
            <a:avLst>
              <a:gd name="adj" fmla="val 11395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6649848" y="7700268"/>
            <a:ext cx="631676" cy="19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429750" y="8272363"/>
            <a:ext cx="8096250" cy="757039"/>
          </a:xfrm>
          <a:prstGeom prst="roundRect">
            <a:avLst>
              <a:gd name="adj" fmla="val 6291"/>
            </a:avLst>
          </a:prstGeom>
          <a:solidFill>
            <a:srgbClr val="EEEDEA"/>
          </a:solidFill>
          <a:ln w="7937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628187" y="8432602"/>
            <a:ext cx="668957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D3.js </a:t>
            </a:r>
            <a:r>
              <a:rPr lang="en-US" sz="15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layout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628187" y="8686601"/>
            <a:ext cx="6689577" cy="22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customizable, more implementation work. Better if bespoke visual design is a priority.</a:t>
            </a:r>
            <a:endParaRPr lang="en-US" sz="1275" dirty="0"/>
          </a:p>
        </p:txBody>
      </p:sp>
      <p:sp>
        <p:nvSpPr>
          <p:cNvPr id="56" name="Shape 54"/>
          <p:cNvSpPr/>
          <p:nvPr/>
        </p:nvSpPr>
        <p:spPr>
          <a:xfrm>
            <a:off x="16757178" y="8525495"/>
            <a:ext cx="570384" cy="250775"/>
          </a:xfrm>
          <a:prstGeom prst="roundRect">
            <a:avLst>
              <a:gd name="adj" fmla="val 11395"/>
            </a:avLst>
          </a:prstGeom>
          <a:solidFill>
            <a:srgbClr val="FEF3E4"/>
          </a:solidFill>
          <a:ln w="7937">
            <a:solidFill>
              <a:srgbClr val="DDB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6879416" y="8571532"/>
            <a:ext cx="402109" cy="19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06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42801"/>
            <a:ext cx="3677498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— WORKFLOW PATH HIGHLIGHTING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059919" y="358676"/>
            <a:ext cx="542280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52500"/>
            <a:ext cx="17266920" cy="645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87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me value iteration training" → graph traces the path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762000" y="1712392"/>
            <a:ext cx="17266920" cy="4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 workflows trigger a subgraph traversal. Relevant nodes stay vivid; everything else fades.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62000" y="2464842"/>
            <a:ext cx="395291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74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— ALL NODES EQUAL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37817"/>
            <a:ext cx="3429000" cy="2667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47431" y="3607842"/>
            <a:ext cx="1219200" cy="384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75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"Value Iteration Train"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5323582" y="4030514"/>
            <a:ext cx="342974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314281" y="2464842"/>
            <a:ext cx="395291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74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HIGHLIGHTED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281" y="2737817"/>
            <a:ext cx="3429000" cy="2667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818812" y="2464842"/>
            <a:ext cx="690840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9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25" dirty="0"/>
          </a:p>
        </p:txBody>
      </p:sp>
      <p:sp>
        <p:nvSpPr>
          <p:cNvPr id="13" name="Shape 9"/>
          <p:cNvSpPr/>
          <p:nvPr/>
        </p:nvSpPr>
        <p:spPr>
          <a:xfrm>
            <a:off x="10818812" y="3745756"/>
            <a:ext cx="6707187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1085512" y="2993429"/>
            <a:ext cx="6641703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 workflows — curated entry-point function lists (e.g. value iteration starts at </a:t>
            </a:r>
            <a:r>
              <a:rPr lang="en-US" sz="1518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train()</a:t>
            </a: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725" dirty="0"/>
          </a:p>
        </p:txBody>
      </p:sp>
      <p:sp>
        <p:nvSpPr>
          <p:cNvPr id="15" name="Shape 11"/>
          <p:cNvSpPr/>
          <p:nvPr/>
        </p:nvSpPr>
        <p:spPr>
          <a:xfrm>
            <a:off x="10818812" y="4601269"/>
            <a:ext cx="6707187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11085512" y="3848943"/>
            <a:ext cx="6641703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BFS/DFS traversal — walks </a:t>
            </a:r>
            <a:r>
              <a:rPr lang="en-US" sz="1518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graph.json </a:t>
            </a: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entry point, collecting all reachable nodes within a depth limit</a:t>
            </a:r>
            <a:endParaRPr lang="en-US" sz="1725" dirty="0"/>
          </a:p>
        </p:txBody>
      </p:sp>
      <p:sp>
        <p:nvSpPr>
          <p:cNvPr id="17" name="Shape 13"/>
          <p:cNvSpPr/>
          <p:nvPr/>
        </p:nvSpPr>
        <p:spPr>
          <a:xfrm>
            <a:off x="10818812" y="5456783"/>
            <a:ext cx="6707187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11085512" y="4704457"/>
            <a:ext cx="6641703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diff — in-path nodes rendered at full opacity + accent stroke; out-of-path nodes at ~10% opacity</a:t>
            </a:r>
            <a:endParaRPr lang="en-US" sz="1725" dirty="0"/>
          </a:p>
        </p:txBody>
      </p:sp>
      <p:sp>
        <p:nvSpPr>
          <p:cNvPr id="19" name="Text 15"/>
          <p:cNvSpPr/>
          <p:nvPr/>
        </p:nvSpPr>
        <p:spPr>
          <a:xfrm>
            <a:off x="11085512" y="5559971"/>
            <a:ext cx="6641703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step view — optionally animate the traversal order to show the execution sequence</a:t>
            </a:r>
            <a:endParaRPr lang="en-US" sz="1725" dirty="0"/>
          </a:p>
        </p:txBody>
      </p:sp>
      <p:sp>
        <p:nvSpPr>
          <p:cNvPr id="20" name="Shape 16"/>
          <p:cNvSpPr/>
          <p:nvPr/>
        </p:nvSpPr>
        <p:spPr>
          <a:xfrm>
            <a:off x="10818812" y="6655097"/>
            <a:ext cx="6707187" cy="1850926"/>
          </a:xfrm>
          <a:prstGeom prst="roundRect">
            <a:avLst>
              <a:gd name="adj" fmla="val 3088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1112500" y="6891610"/>
            <a:ext cx="630340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SYNC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11112500" y="7126510"/>
            <a:ext cx="63034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workflow is selected, the chatbot is pre-prompted with the path context — "You are viewing the value iteration training path: </a:t>
            </a:r>
            <a:r>
              <a:rPr lang="en-US" sz="1320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train() → heuristic() → loss() </a:t>
            </a:r>
            <a:r>
              <a:rPr lang="en-US" sz="15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". Follow-up questions resolve against this subgraph automatically.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10818812" y="8848824"/>
            <a:ext cx="6707187" cy="1101328"/>
          </a:xfrm>
          <a:prstGeom prst="rect">
            <a:avLst/>
          </a:prstGeom>
          <a:solidFill>
            <a:srgbClr val="FEF3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10818812" y="8848824"/>
            <a:ext cx="31750" cy="1101328"/>
          </a:xfrm>
          <a:prstGeom prst="rect">
            <a:avLst/>
          </a:prstGeom>
          <a:solidFill>
            <a:srgbClr val="A06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11079138" y="9020224"/>
            <a:ext cx="640483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84" dirty="0">
                <a:solidFill>
                  <a:srgbClr val="A06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79138" y="9236025"/>
            <a:ext cx="6404835" cy="580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preset workflows should ship at launch? Suggest: 3–5 canonical paths. Should users be able to define custom entry points?</a:t>
            </a:r>
            <a:endParaRPr lang="en-US" sz="14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42801"/>
            <a:ext cx="3059089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— INTEGRATED EXPERIENCE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059919" y="358676"/>
            <a:ext cx="542280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52500"/>
            <a:ext cx="17266920" cy="645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87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and chatbot as one system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762000" y="1712392"/>
            <a:ext cx="17266920" cy="4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components are not independent — they share context and reinforce each other.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62000" y="2426643"/>
            <a:ext cx="909729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9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CONTEXT FLOW</a:t>
            </a:r>
            <a:endParaRPr lang="en-US" sz="112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821905"/>
            <a:ext cx="6477000" cy="304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6098480"/>
            <a:ext cx="9097299" cy="6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chatbot already cites </a:t>
            </a:r>
            <a:r>
              <a:rPr lang="en-US" sz="1254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qualified_name · file:line </a:t>
            </a:r>
            <a:r>
              <a:rPr lang="en-US" sz="142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those references can directly trigger node highlights in the graph. No new data pipeline needed.</a:t>
            </a:r>
            <a:endParaRPr lang="en-US" sz="1425" dirty="0"/>
          </a:p>
        </p:txBody>
      </p:sp>
      <p:sp>
        <p:nvSpPr>
          <p:cNvPr id="9" name="Text 6"/>
          <p:cNvSpPr/>
          <p:nvPr/>
        </p:nvSpPr>
        <p:spPr>
          <a:xfrm>
            <a:off x="10165828" y="2426643"/>
            <a:ext cx="758097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9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SCOPE SUMMARY</a:t>
            </a:r>
            <a:endParaRPr lang="en-US" sz="1125" dirty="0"/>
          </a:p>
        </p:txBody>
      </p:sp>
      <p:sp>
        <p:nvSpPr>
          <p:cNvPr id="10" name="Shape 7"/>
          <p:cNvSpPr/>
          <p:nvPr/>
        </p:nvSpPr>
        <p:spPr>
          <a:xfrm>
            <a:off x="10165828" y="3279055"/>
            <a:ext cx="2953122" cy="1587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356328" y="2955255"/>
            <a:ext cx="2660716" cy="22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3118950" y="3279055"/>
            <a:ext cx="4407049" cy="1587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3309450" y="2955255"/>
            <a:ext cx="4158260" cy="22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72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165828" y="3949650"/>
            <a:ext cx="2953122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356328" y="3466381"/>
            <a:ext cx="2660716" cy="349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chatbot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13118950" y="3949650"/>
            <a:ext cx="4407049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3309450" y="3466381"/>
            <a:ext cx="4158260" cy="349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proposed — Stages 1–6</a:t>
            </a:r>
            <a:endParaRPr lang="en-US" sz="1425" dirty="0"/>
          </a:p>
        </p:txBody>
      </p:sp>
      <p:sp>
        <p:nvSpPr>
          <p:cNvPr id="18" name="Shape 15"/>
          <p:cNvSpPr/>
          <p:nvPr/>
        </p:nvSpPr>
        <p:spPr>
          <a:xfrm>
            <a:off x="10165828" y="4608339"/>
            <a:ext cx="2953122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356328" y="4129038"/>
            <a:ext cx="2660716" cy="345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visualization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3118950" y="4608339"/>
            <a:ext cx="4407049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3309450" y="4129038"/>
            <a:ext cx="4158260" cy="345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— Cytoscape.js + </a:t>
            </a:r>
            <a:r>
              <a:rPr lang="en-US" sz="1211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graph.json</a:t>
            </a:r>
            <a:endParaRPr lang="en-US" sz="1425" dirty="0"/>
          </a:p>
        </p:txBody>
      </p:sp>
      <p:sp>
        <p:nvSpPr>
          <p:cNvPr id="22" name="Shape 19"/>
          <p:cNvSpPr/>
          <p:nvPr/>
        </p:nvSpPr>
        <p:spPr>
          <a:xfrm>
            <a:off x="10165828" y="5267027"/>
            <a:ext cx="2953122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0356328" y="4787726"/>
            <a:ext cx="2660716" cy="345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highlighting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13118950" y="5267027"/>
            <a:ext cx="4407049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3309450" y="4787726"/>
            <a:ext cx="4158260" cy="345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— BFS over existing graph data</a:t>
            </a:r>
            <a:endParaRPr lang="en-US" sz="1425" dirty="0"/>
          </a:p>
        </p:txBody>
      </p:sp>
      <p:sp>
        <p:nvSpPr>
          <p:cNvPr id="26" name="Shape 23"/>
          <p:cNvSpPr/>
          <p:nvPr/>
        </p:nvSpPr>
        <p:spPr>
          <a:xfrm>
            <a:off x="10165828" y="5925716"/>
            <a:ext cx="2953122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0356328" y="5446415"/>
            <a:ext cx="2660716" cy="345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↔ chatbot sync</a:t>
            </a:r>
            <a:endParaRPr lang="en-US" sz="1575" dirty="0"/>
          </a:p>
        </p:txBody>
      </p:sp>
      <p:sp>
        <p:nvSpPr>
          <p:cNvPr id="28" name="Shape 25"/>
          <p:cNvSpPr/>
          <p:nvPr/>
        </p:nvSpPr>
        <p:spPr>
          <a:xfrm>
            <a:off x="13118950" y="5925716"/>
            <a:ext cx="4407049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3309450" y="5446415"/>
            <a:ext cx="4158260" cy="345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— shared context object in frontend</a:t>
            </a:r>
            <a:endParaRPr lang="en-US" sz="1425" dirty="0"/>
          </a:p>
        </p:txBody>
      </p:sp>
      <p:sp>
        <p:nvSpPr>
          <p:cNvPr id="30" name="Text 27"/>
          <p:cNvSpPr/>
          <p:nvPr/>
        </p:nvSpPr>
        <p:spPr>
          <a:xfrm>
            <a:off x="10356328" y="6105103"/>
            <a:ext cx="2660716" cy="349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redesign</a:t>
            </a:r>
            <a:endParaRPr lang="en-US" sz="1575" dirty="0"/>
          </a:p>
        </p:txBody>
      </p:sp>
      <p:sp>
        <p:nvSpPr>
          <p:cNvPr id="31" name="Text 28"/>
          <p:cNvSpPr/>
          <p:nvPr/>
        </p:nvSpPr>
        <p:spPr>
          <a:xfrm>
            <a:off x="13309450" y="6105103"/>
            <a:ext cx="4158260" cy="349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A06820"/>
                </a:solidFill>
                <a:highlight>
                  <a:srgbClr val="FEF3E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Open </a:t>
            </a:r>
            <a:r>
              <a:rPr lang="en-US" sz="142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scope TBD with you</a:t>
            </a:r>
            <a:endParaRPr lang="en-US" sz="1425" dirty="0"/>
          </a:p>
        </p:txBody>
      </p:sp>
      <p:sp>
        <p:nvSpPr>
          <p:cNvPr id="32" name="Shape 29"/>
          <p:cNvSpPr/>
          <p:nvPr/>
        </p:nvSpPr>
        <p:spPr>
          <a:xfrm>
            <a:off x="10165828" y="6893098"/>
            <a:ext cx="7360171" cy="1372691"/>
          </a:xfrm>
          <a:prstGeom prst="rect">
            <a:avLst/>
          </a:prstGeom>
          <a:solidFill>
            <a:srgbClr val="FEF3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0165828" y="6893098"/>
            <a:ext cx="31750" cy="1372691"/>
          </a:xfrm>
          <a:prstGeom prst="rect">
            <a:avLst/>
          </a:prstGeom>
          <a:solidFill>
            <a:srgbClr val="A06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0426154" y="7064499"/>
            <a:ext cx="707740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84" dirty="0">
                <a:solidFill>
                  <a:srgbClr val="A06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— WEBSITE REDESIGN SCOPE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0426154" y="7280300"/>
            <a:ext cx="7077408" cy="852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graph explorer as a standalone page first, then integrate into the existing site? Or redesign the full site from scratch with the graph as the centerpiece? The chatbot + graph can ship independently of a full redesign.</a:t>
            </a:r>
            <a:endParaRPr lang="en-US" sz="1425" dirty="0"/>
          </a:p>
        </p:txBody>
      </p:sp>
      <p:sp>
        <p:nvSpPr>
          <p:cNvPr id="36" name="Shape 33"/>
          <p:cNvSpPr/>
          <p:nvPr/>
        </p:nvSpPr>
        <p:spPr>
          <a:xfrm>
            <a:off x="10165828" y="8494365"/>
            <a:ext cx="7360171" cy="1015752"/>
          </a:xfrm>
          <a:prstGeom prst="roundRect">
            <a:avLst>
              <a:gd name="adj" fmla="val 5626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0459516" y="8730878"/>
            <a:ext cx="6975980" cy="580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sequence: </a:t>
            </a:r>
            <a:r>
              <a:rPr lang="en-US" sz="1425" b="1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</a:t>
            </a:r>
            <a:r>
              <a:rPr lang="en-US" sz="142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chatbot, </a:t>
            </a:r>
            <a:r>
              <a:rPr lang="en-US" sz="1425" b="1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</a:t>
            </a:r>
            <a:r>
              <a:rPr lang="en-US" sz="142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graph explorer page, </a:t>
            </a:r>
            <a:r>
              <a:rPr lang="en-US" sz="1425" b="1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</a:t>
            </a:r>
            <a:r>
              <a:rPr lang="en-US" sz="142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bidirectional context, </a:t>
            </a:r>
            <a:r>
              <a:rPr lang="en-US" sz="1425" b="1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</a:t>
            </a:r>
            <a:r>
              <a:rPr lang="en-US" sz="1425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revisit site-wide redesign.</a:t>
            </a:r>
            <a:endParaRPr lang="en-US" sz="14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42801"/>
            <a:ext cx="2259757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OPEN QUESTIONS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071206" y="358676"/>
            <a:ext cx="530994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52500"/>
            <a:ext cx="17266920" cy="645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87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decisions where your input shapes the design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762000" y="2017241"/>
            <a:ext cx="8210599" cy="1518543"/>
          </a:xfrm>
          <a:prstGeom prst="rect">
            <a:avLst/>
          </a:prstGeom>
          <a:solidFill>
            <a:srgbClr val="FEF3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2000" y="2017241"/>
            <a:ext cx="31750" cy="1518543"/>
          </a:xfrm>
          <a:prstGeom prst="rect">
            <a:avLst/>
          </a:prstGeom>
          <a:solidFill>
            <a:srgbClr val="A06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2325" y="2188642"/>
            <a:ext cx="795335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84" dirty="0">
                <a:solidFill>
                  <a:srgbClr val="A06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— PROVIDER LOCK-IN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22325" y="2404442"/>
            <a:ext cx="795335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we commit to OpenAI for embeddings + LLM from the start, or prototype with a local embedding model to avoid vendor dependency? Both are viable at prototype scale.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762000" y="3878585"/>
            <a:ext cx="8210599" cy="1198562"/>
          </a:xfrm>
          <a:prstGeom prst="rect">
            <a:avLst/>
          </a:prstGeom>
          <a:solidFill>
            <a:srgbClr val="FEF3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2000" y="3878585"/>
            <a:ext cx="31750" cy="1198562"/>
          </a:xfrm>
          <a:prstGeom prst="rect">
            <a:avLst/>
          </a:prstGeom>
          <a:solidFill>
            <a:srgbClr val="A06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2325" y="4049985"/>
            <a:ext cx="795335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84" dirty="0">
                <a:solidFill>
                  <a:srgbClr val="A06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— HOSTED VS. SELF-HOSTED VECTOR DB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22325" y="4265786"/>
            <a:ext cx="79533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Chroma / LanceDB is free and sufficient for the corpus size. Hosted Pinecone simplifies deployment but adds cost + a service dependency. Preference?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9315400" y="2017241"/>
            <a:ext cx="8210599" cy="1518543"/>
          </a:xfrm>
          <a:prstGeom prst="rect">
            <a:avLst/>
          </a:prstGeom>
          <a:solidFill>
            <a:srgbClr val="FEF3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15400" y="2017241"/>
            <a:ext cx="31750" cy="1518543"/>
          </a:xfrm>
          <a:prstGeom prst="rect">
            <a:avLst/>
          </a:prstGeom>
          <a:solidFill>
            <a:srgbClr val="A06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575725" y="2188642"/>
            <a:ext cx="795335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84" dirty="0">
                <a:solidFill>
                  <a:srgbClr val="A06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— FAQ CURATION WORKFLOW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575725" y="2404442"/>
            <a:ext cx="795335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weekly review of logged misses, or auto-promotion with approval threshold? Auto-promotion scales better but requires a review interface. How much curation bandwidth is realistic?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315400" y="3878585"/>
            <a:ext cx="8210599" cy="1518543"/>
          </a:xfrm>
          <a:prstGeom prst="rect">
            <a:avLst/>
          </a:prstGeom>
          <a:solidFill>
            <a:srgbClr val="FEF3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15400" y="3878585"/>
            <a:ext cx="31750" cy="1518543"/>
          </a:xfrm>
          <a:prstGeom prst="rect">
            <a:avLst/>
          </a:prstGeom>
          <a:solidFill>
            <a:srgbClr val="A06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75725" y="4049985"/>
            <a:ext cx="795335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84" dirty="0">
                <a:solidFill>
                  <a:srgbClr val="A06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— SCOPE: EXPLANATION ONLY VS. RUNNABLE CODE GENERATION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575725" y="4265786"/>
            <a:ext cx="795335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proposal is explanation + citation — grounded answers with source references. Should the bot also generate runnable code examples? This widens scope significantly and raises citation complexity.</a:t>
            </a:r>
            <a:endParaRPr lang="en-US" sz="15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42801"/>
            <a:ext cx="1524050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ROADMAP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059919" y="358676"/>
            <a:ext cx="542280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52500"/>
            <a:ext cx="17266920" cy="645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kern="0" spc="-87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stages, two already underway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762000" y="2798217"/>
            <a:ext cx="16764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2141066"/>
            <a:ext cx="495275" cy="22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447726" y="2112491"/>
            <a:ext cx="15485911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codebase documentation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47726" y="2420441"/>
            <a:ext cx="15485911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</a:t>
            </a:r>
            <a:r>
              <a:rPr lang="en-US" sz="1188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.md </a:t>
            </a: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docs in </a:t>
            </a:r>
            <a:r>
              <a:rPr lang="en-US" sz="1188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deepxube-main/docs/</a:t>
            </a: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YAML frontmatter, call-graph, module summaries — complete.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6749240" y="2253754"/>
            <a:ext cx="776759" cy="231676"/>
          </a:xfrm>
          <a:prstGeom prst="roundRect">
            <a:avLst>
              <a:gd name="adj" fmla="val 12334"/>
            </a:avLst>
          </a:prstGeom>
          <a:solidFill>
            <a:srgbClr val="EEEDEA"/>
          </a:solidFill>
          <a:ln w="7937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852428" y="2290266"/>
            <a:ext cx="646584" cy="196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2000" y="4189264"/>
            <a:ext cx="16764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2000" y="3532113"/>
            <a:ext cx="495275" cy="22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447726" y="3503538"/>
            <a:ext cx="15386654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pipeline — code store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47726" y="3811488"/>
            <a:ext cx="15386654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Vectorize </a:t>
            </a:r>
            <a:r>
              <a:rPr lang="en-US" sz="1188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.md </a:t>
            </a: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docs → Vector DB. Load </a:t>
            </a:r>
            <a:r>
              <a:rPr lang="en-US" sz="1188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graph.json </a:t>
            </a: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NetworkX in-memory graph.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6652874" y="3644801"/>
            <a:ext cx="873125" cy="231676"/>
          </a:xfrm>
          <a:prstGeom prst="roundRect">
            <a:avLst>
              <a:gd name="adj" fmla="val 12334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756062" y="3681313"/>
            <a:ext cx="742950" cy="196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2000" y="5580434"/>
            <a:ext cx="16764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2000" y="4923284"/>
            <a:ext cx="495275" cy="22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447726" y="4894709"/>
            <a:ext cx="15600242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research papers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47726" y="5202659"/>
            <a:ext cx="15600242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→ section-chunked text → Vector DB. Tag each chunk with </a:t>
            </a:r>
            <a:r>
              <a:rPr lang="en-US" sz="1188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paper_id </a:t>
            </a: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188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§section </a:t>
            </a: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page range.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6860242" y="5035972"/>
            <a:ext cx="665758" cy="231676"/>
          </a:xfrm>
          <a:prstGeom prst="roundRect">
            <a:avLst>
              <a:gd name="adj" fmla="val 12334"/>
            </a:avLst>
          </a:prstGeom>
          <a:solidFill>
            <a:srgbClr val="EEEDEA"/>
          </a:solidFill>
          <a:ln w="7937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963429" y="5072484"/>
            <a:ext cx="535583" cy="196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2000" y="6971481"/>
            <a:ext cx="16764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2000" y="6314331"/>
            <a:ext cx="495275" cy="22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447726" y="6285756"/>
            <a:ext cx="15585934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FAQ store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47726" y="6593706"/>
            <a:ext cx="15585934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Hand-curate ~30–50 Q&amp;A entries covering the highest-frequency expected questions. Establish promotion workflow for approved misses.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6941601" y="6463531"/>
            <a:ext cx="565348" cy="196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2000" y="8362652"/>
            <a:ext cx="16764000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2000" y="7705502"/>
            <a:ext cx="495275" cy="22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1447726" y="7676927"/>
            <a:ext cx="15585934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deploy LangGraph pipeline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447726" y="7984877"/>
            <a:ext cx="15585934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nodes end-to-end. FastAPI endpoint. Internal evaluation on held-out query set.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6941601" y="7854702"/>
            <a:ext cx="565348" cy="196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62000" y="9096548"/>
            <a:ext cx="495275" cy="22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1447726" y="9067973"/>
            <a:ext cx="15585934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widget on website · close the feedback loop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447726" y="9375924"/>
            <a:ext cx="15585934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chat widget. Log queries. Grow FAQ from approved misses. Monitor citation quality.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6941601" y="9245748"/>
            <a:ext cx="565348" cy="196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42801"/>
            <a:ext cx="1751881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NEXT STEPS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059919" y="358676"/>
            <a:ext cx="542280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3038574"/>
            <a:ext cx="10988040" cy="687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650" b="1" kern="0" spc="-93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after this meeting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762000" y="3878709"/>
            <a:ext cx="10988040" cy="4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your feedback on the four open questions, the path forward is clear.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62000" y="4631159"/>
            <a:ext cx="571500" cy="28525"/>
          </a:xfrm>
          <a:prstGeom prst="roundRect">
            <a:avLst>
              <a:gd name="adj" fmla="val 50001"/>
            </a:avLst>
          </a:prstGeom>
          <a:solidFill>
            <a:srgbClr val="287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8648" y="5040684"/>
            <a:ext cx="10897553" cy="2665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the four open decisions (provider, DB, FAQ workflow, scope)</a:t>
            </a:r>
            <a:endParaRPr lang="en-US" sz="1725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Stage 2: code store ingest + NetworkX load</a:t>
            </a:r>
            <a:endParaRPr lang="en-US" sz="1725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paper ingest pipeline (Stage 3)</a:t>
            </a:r>
            <a:endParaRPr lang="en-US" sz="1725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on evaluation criteria: what does "good enough to ship" look like?</a:t>
            </a:r>
            <a:endParaRPr lang="en-US" sz="1725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demo review after Stage 5 (LangGraph end-to-end)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12192000" y="2323827"/>
            <a:ext cx="5334000" cy="4472781"/>
          </a:xfrm>
          <a:prstGeom prst="roundRect">
            <a:avLst>
              <a:gd name="adj" fmla="val 1704"/>
            </a:avLst>
          </a:prstGeom>
          <a:solidFill>
            <a:srgbClr val="EEEDEA"/>
          </a:solidFill>
          <a:ln w="7937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542738" y="2674565"/>
            <a:ext cx="477149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9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APPROACH IS THE RIGHT FIT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12542738" y="3879329"/>
            <a:ext cx="4632523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809438" y="3127003"/>
            <a:ext cx="4504799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518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.md </a:t>
            </a: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are already perfect retrieval units — structured, grounded, citable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2542738" y="4734843"/>
            <a:ext cx="4632523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809438" y="3982517"/>
            <a:ext cx="4504799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18" dirty="0">
                <a:solidFill>
                  <a:srgbClr val="287A70"/>
                </a:solidFill>
                <a:highlight>
                  <a:srgbClr val="EEEDE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graph.json </a:t>
            </a: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structural knowledge for free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12542738" y="5590356"/>
            <a:ext cx="4632523" cy="9525"/>
          </a:xfrm>
          <a:prstGeom prst="rect">
            <a:avLst/>
          </a:prstGeom>
          <a:solidFill>
            <a:srgbClr val="D8D5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809438" y="4838030"/>
            <a:ext cx="4504799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FAQ-first routing directly targets the cost constraint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2809438" y="5693544"/>
            <a:ext cx="4504799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infrastructure: runs on existing hosting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12192000" y="7025183"/>
            <a:ext cx="5334000" cy="1357188"/>
          </a:xfrm>
          <a:prstGeom prst="roundRect">
            <a:avLst>
              <a:gd name="adj" fmla="val 5615"/>
            </a:avLst>
          </a:prstGeom>
          <a:solidFill>
            <a:srgbClr val="E6F2F0"/>
          </a:solidFill>
          <a:ln w="7937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473250" y="7299771"/>
            <a:ext cx="477149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kern="0" spc="79" dirty="0">
                <a:solidFill>
                  <a:srgbClr val="28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BY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2473250" y="7561709"/>
            <a:ext cx="4771499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Tirth Patel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473250" y="7901409"/>
            <a:ext cx="4771499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A5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South Carolina · April 2026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2450</Words>
  <Application>Microsoft Office PowerPoint</Application>
  <PresentationFormat>Custom</PresentationFormat>
  <Paragraphs>326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PATEL, TIRTH</cp:lastModifiedBy>
  <cp:revision>3</cp:revision>
  <dcterms:created xsi:type="dcterms:W3CDTF">2026-04-29T18:19:47Z</dcterms:created>
  <dcterms:modified xsi:type="dcterms:W3CDTF">2026-04-29T18:22:33Z</dcterms:modified>
</cp:coreProperties>
</file>